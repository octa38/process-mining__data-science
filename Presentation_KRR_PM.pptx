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3" r:id="rId9"/>
    <p:sldId id="261" r:id="rId10"/>
    <p:sldId id="260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CCE8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288DD7-A3C3-4DEF-8619-5EE16C6E5080}" v="1020" dt="2023-11-02T09:52:33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89" autoAdjust="0"/>
    <p:restoredTop sz="94660"/>
  </p:normalViewPr>
  <p:slideViewPr>
    <p:cSldViewPr snapToGrid="0">
      <p:cViewPr varScale="1">
        <p:scale>
          <a:sx n="90" d="100"/>
          <a:sy n="90" d="100"/>
        </p:scale>
        <p:origin x="607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93685-B454-5F50-1414-DD080D3E9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3355E-CB92-E14B-9A27-0B45C5D20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1B4AB-13D6-703F-7265-2D5436414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01DA-1280-4078-B24A-8F3B1C161F8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3C845-77EF-2707-9A95-5F4D8642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F8ACF-3C5B-F0A2-DDAD-7F12AA7B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5FF4F-5005-45A8-B3D7-BA618FBE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5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ED4E-EDF1-D698-D264-EDFAB22BA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65B12-7B4E-D6CA-C3FE-D286B8C19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6EA86-1394-E4E9-D744-EF255591A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01DA-1280-4078-B24A-8F3B1C161F8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4F23B-CD45-2CA8-A3F9-E43816708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71B7E-06F1-903E-D7FB-AD3CBC935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5FF4F-5005-45A8-B3D7-BA618FBE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84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50323-EFF0-2931-6C24-FEE8CF01E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885FC-ED3F-1E21-5653-F3317AE3A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6B4BC-4D9A-33A9-CC31-AE2263FCE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01DA-1280-4078-B24A-8F3B1C161F8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980C6-44C4-E1C8-D383-465CAC46A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AB031-5FA3-6B35-D984-17AB6020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5FF4F-5005-45A8-B3D7-BA618FBE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446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3F65-5BA1-E7F0-E970-251D62904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9934E-CBDC-755C-9BB9-CB662BA42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6A27F-F589-5D19-927A-7388E4FBC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A736C-CEF8-C3FA-F321-88B6B13F7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01DA-1280-4078-B24A-8F3B1C161F8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521E6-E0B3-AA8A-331B-5E8BAA61F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CA2CF-01BB-49C6-3214-5CA34953F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5FF4F-5005-45A8-B3D7-BA618FBE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27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B2FC-8B20-0A9B-2440-BE27753F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0F6DD-3EEC-2525-6F45-70582B42E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1DA15-948B-1CFF-D7BF-436125FDB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30DBE1-FFF4-E61A-61B9-D5EF59A80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7C681-F7C6-EE0F-5BEA-41553E4152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31E205-A7DA-6F6F-12F2-4F32294D9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01DA-1280-4078-B24A-8F3B1C161F8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F701E9-4075-99FC-E945-337AB7FD7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266A39-0F5E-9846-FE17-BCD684E4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5FF4F-5005-45A8-B3D7-BA618FBE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7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F125-64AF-371F-2AAA-E4CE3AD4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38052F-04A5-6C7C-D342-2D8DCABF8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01DA-1280-4078-B24A-8F3B1C161F8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A61588-6F43-09BB-1BE0-EF0B38814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83437-9E2C-1DBF-41D3-2FA4DB1D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5FF4F-5005-45A8-B3D7-BA618FBE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72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2CE6CC-0F20-FF76-BFCE-21DF100D1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01DA-1280-4078-B24A-8F3B1C161F8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7F95C9-1034-A1B2-09C0-354B61E8D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EF0EF-06D7-5B07-7E85-A91841C2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5FF4F-5005-45A8-B3D7-BA618FBE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84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50D5-0E1F-04E7-145E-DE8443AC7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FCB81-0A02-8D22-5308-02AD65A50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B1908-1595-993A-2F64-7A14C7657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4E20F-5B09-78FD-CE54-255AC885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01DA-1280-4078-B24A-8F3B1C161F8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8D7B1-1844-43BC-CF98-ED144E53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FB99D-85E5-2016-1B1C-947453E4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5FF4F-5005-45A8-B3D7-BA618FBE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70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F5714-B961-D319-8881-B46F2860C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CA3A3-3189-87A2-24E6-9A60F664A8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A8C26-FDD1-2A97-FAF8-C6A9BE6DC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54F92-4057-4317-4BB7-425201575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01DA-1280-4078-B24A-8F3B1C161F8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70175-569D-4482-D153-BB05CB9C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B5118-63BF-5687-4994-74C4506F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5FF4F-5005-45A8-B3D7-BA618FBE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87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4121-CEA1-0806-9E31-B142AECB7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62C041-099E-9205-3227-897A5CEF9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29AA3-F0D3-F1AA-594C-7045A758D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01DA-1280-4078-B24A-8F3B1C161F8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8BF64-306F-80C9-3AE5-2EA795F8D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EB6AB-0905-B0FA-AAC3-498AEDC0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5FF4F-5005-45A8-B3D7-BA618FBE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5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D5AC3-5288-95B2-099F-852A74CDB5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AE8E6-54FF-EC85-C027-091601A3A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0366E-3902-D6C1-B673-FCCA13532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01DA-1280-4078-B24A-8F3B1C161F8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842E7-8F57-ED58-CDA1-D4E8397B2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68FE1-86D1-B820-1E6C-3B85BFB63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5FF4F-5005-45A8-B3D7-BA618FBE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81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0AA114-01BC-E6E6-4BAB-EBCA26A9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0312A-B3DE-CB1B-6659-5F4EF1635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F8206-DF47-1280-86EB-93663CFD1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A01DA-1280-4078-B24A-8F3B1C161F8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6ECF5-14AE-3A25-AA2D-C1994676BE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4E04A-BFE9-1588-81D4-8807DAD59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5FF4F-5005-45A8-B3D7-BA618FBE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74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DE2CB8-B98F-F548-F130-6FA9CA9578BC}"/>
              </a:ext>
            </a:extLst>
          </p:cNvPr>
          <p:cNvSpPr txBox="1"/>
          <p:nvPr/>
        </p:nvSpPr>
        <p:spPr>
          <a:xfrm>
            <a:off x="2375799" y="2705725"/>
            <a:ext cx="74404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chemeClr val="bg1"/>
                </a:solidFill>
                <a:latin typeface="Comfortaa" pitchFamily="2" charset="0"/>
              </a:rPr>
              <a:t>Process Mining &amp; KRR</a:t>
            </a:r>
          </a:p>
          <a:p>
            <a:pPr algn="ctr"/>
            <a:r>
              <a:rPr lang="en-GB" sz="4400" b="1" dirty="0">
                <a:solidFill>
                  <a:schemeClr val="bg1"/>
                </a:solidFill>
                <a:latin typeface="Comfortaa" pitchFamily="2" charset="0"/>
              </a:rPr>
              <a:t>-</a:t>
            </a:r>
            <a:r>
              <a:rPr lang="en-GB" sz="3200" b="1" dirty="0">
                <a:solidFill>
                  <a:schemeClr val="bg1"/>
                </a:solidFill>
                <a:latin typeface="Comfortaa" pitchFamily="2" charset="0"/>
              </a:rPr>
              <a:t>GROUP 2</a:t>
            </a:r>
            <a:r>
              <a:rPr lang="en-GB" sz="4400" b="1" dirty="0">
                <a:solidFill>
                  <a:schemeClr val="bg1"/>
                </a:solidFill>
                <a:latin typeface="Comfortaa" pitchFamily="2" charset="0"/>
              </a:rPr>
              <a:t>-</a:t>
            </a:r>
            <a:endParaRPr lang="en-US" sz="4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1C94B-2F51-D749-4DC2-B20BD6314CB2}"/>
              </a:ext>
            </a:extLst>
          </p:cNvPr>
          <p:cNvSpPr txBox="1"/>
          <p:nvPr/>
        </p:nvSpPr>
        <p:spPr>
          <a:xfrm>
            <a:off x="1515247" y="5536011"/>
            <a:ext cx="91615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Comfortaa" pitchFamily="2" charset="0"/>
              </a:rPr>
              <a:t>Team:</a:t>
            </a:r>
          </a:p>
          <a:p>
            <a:r>
              <a:rPr lang="en-GB" sz="2000" b="1" dirty="0">
                <a:solidFill>
                  <a:schemeClr val="bg1"/>
                </a:solidFill>
                <a:latin typeface="Comfortaa" pitchFamily="2" charset="0"/>
              </a:rPr>
              <a:t>	- Octaviana Cheteles	- Paola Joza		- Vlad Alexe</a:t>
            </a:r>
            <a:endParaRPr lang="en-US" sz="2000" b="1" dirty="0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448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ACBB970-2982-F891-777D-F6269EC96F55}"/>
              </a:ext>
            </a:extLst>
          </p:cNvPr>
          <p:cNvSpPr txBox="1"/>
          <p:nvPr/>
        </p:nvSpPr>
        <p:spPr>
          <a:xfrm>
            <a:off x="0" y="0"/>
            <a:ext cx="6096000" cy="3582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&lt;trace&gt;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concept:name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value=".MUs.Console:1"/&gt;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&lt;int key="ID" value="1"/&gt;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concept:instance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value="Console"/&gt;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org:resource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value=".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Models.JobShop.Source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lifecycle:transition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value="Start"/&gt;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concept:name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value="Arrival"/&gt;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&lt;date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time:timestamp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value="2019-04-18T00:00:00.000+02:00"/&gt;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&lt;/event&gt;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&lt;int key="ID" value="2"/&gt;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concept:instance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value="Console"/&gt;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org:resource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value=".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Models.JobShop.Source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lifecycle:transition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value="Complete"/&gt;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concept:name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value="Arrival"/&gt;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&lt;date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time:timestamp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value="2019-04-18T00:00:00.000+02:00"/&gt;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&lt;/event&gt;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&lt;int key="ID" value="3"/&gt;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concept:instance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value="Console"/&gt;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org:resource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value=".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Models.JobShop.Buffer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lifecycle:transition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value="Start"/&gt;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concept:name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value="Transport"/&gt;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&lt;date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time:timestamp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value="2019-04-18T00:00:00.000+02:00"/&gt;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&lt;/event&gt;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&lt;int key="ID" value="4"/&gt;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concept:instance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value="Console"/&gt;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org:resource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value=".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Models.JobShop.Buffer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lifecycle:transition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value="Waiting"/&gt;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concept:name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value="Transport"/&gt;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&lt;date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time:timestamp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value="2019-04-18T00:00:00.000+02:00"/&gt;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&lt;/event&gt;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&lt;int key="ID" value="10"/&gt;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concept:instance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value="Console"/&gt;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org:resource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value=".MUs.AGV:4"/&gt;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lifecycle:transition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value="In progress"/&gt;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concept:name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value="Transport"/&gt;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&lt;date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time:timestamp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value="2019-04-18T00:00:54.000+02:00"/&gt;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&lt;/event&gt;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&lt;int key="ID" value="15"/&gt;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concept:instance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value="Console"/&gt;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org:resource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value=".MUs.AGV:4"/&gt;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lifecycle:transition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value="Complete"/&gt;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concept:name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value="Transport"/&gt;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&lt;date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time:timestamp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value="2019-04-18T00:01:44.000+02:00"/&gt;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&lt;/event&gt;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&lt;int key="ID" value="16"/&gt;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concept:instance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value="Console"/&gt;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org:resource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value=".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Models.JobShop.Welding.Input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lifecycle:transition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value="Start"/&gt;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concept:name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value="Welding"/&gt;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&lt;date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time:timestamp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value="2019-04-18T00:01:44.000+02:00"/&gt;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&lt;/event&gt;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&lt;int key="ID" value="17"/&gt;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concept:instance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value="Console"/&gt;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org:resource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value=".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Models.JobShop.Welding.Input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lifecycle:transition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value="Waiting"/&gt;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concept:name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value="Welding"/&gt;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&lt;date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time:timestamp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value="2019-04-18T00:01:44.000+02:00"/&gt;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&lt;/event&gt;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&lt;event&gt;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&lt;int key="ID" value="33"/&gt;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concept:instance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value="Console"/&gt;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org:resource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value=".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Models.JobShop.Welding.Machine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lifecycle:transition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value="In progress"/&gt;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&lt;string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concept:name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value="Welding"/&gt;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	&lt;date key="</a:t>
            </a:r>
            <a:r>
              <a:rPr lang="en-US" dirty="0" err="1">
                <a:solidFill>
                  <a:schemeClr val="bg1"/>
                </a:solidFill>
                <a:latin typeface="Comfortaa" pitchFamily="2" charset="0"/>
              </a:rPr>
              <a:t>time:timestamp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" value="2019-04-18T00:02:57.159+02:00"/&gt;</a:t>
            </a:r>
          </a:p>
          <a:p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		&lt;/event&gt;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6C2B195-84A1-C73B-A5A7-E902C944C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720" y="5609840"/>
            <a:ext cx="1329804" cy="3521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D6CE92-ADF4-14ED-F293-E832A28BE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719" y="5609839"/>
            <a:ext cx="1329805" cy="352129"/>
          </a:xfrm>
          <a:prstGeom prst="rect">
            <a:avLst/>
          </a:prstGeom>
        </p:spPr>
      </p:pic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52579143-9AD8-9258-0080-198F92072F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9082" y="3157070"/>
            <a:ext cx="914400" cy="914400"/>
          </a:xfrm>
          <a:prstGeom prst="rect">
            <a:avLst/>
          </a:prstGeom>
        </p:spPr>
      </p:pic>
      <p:pic>
        <p:nvPicPr>
          <p:cNvPr id="14" name="Picture 13" descr="A stone bridge over a hill&#10;&#10;Description automatically generated with medium confidence">
            <a:extLst>
              <a:ext uri="{FF2B5EF4-FFF2-40B4-BE49-F238E27FC236}">
                <a16:creationId xmlns:a16="http://schemas.microsoft.com/office/drawing/2014/main" id="{26AD57E7-E453-545A-35E4-542D2B1BCA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5349BBA-FBED-928B-6C4E-8BCD958D7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8574" y="-35856"/>
            <a:ext cx="12609286" cy="698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D9ED385-3FAD-8887-7999-993CAE5D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8574" y="-35856"/>
            <a:ext cx="12699046" cy="698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4244F07-491E-F2B7-FB95-7290EA042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605" y="-35856"/>
            <a:ext cx="12699046" cy="698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686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6 -0.00787 L 0.08985 -0.05995 L -0.07278 0.04375 L 0.08698 -0.04004 L -0.04492 0.0463 L -0.04492 0.04653 C -0.05026 0.0551 -0.05625 0.06273 -0.06106 0.07246 C -0.07252 0.09561 -0.07721 0.10648 -0.08307 0.12917 C -0.08437 0.13357 -0.08541 0.13843 -0.08658 0.14306 C -0.08711 0.14908 -0.08789 0.1551 -0.08802 0.16135 C -0.08815 0.16829 -0.08802 0.17523 -0.0875 0.18218 C -0.08632 0.20162 -0.08359 0.21875 -0.07968 0.23727 C -0.07539 0.25764 -0.0733 0.26505 -0.06549 0.28079 C -0.06354 0.28449 -0.06145 0.2882 -0.05911 0.29121 C -0.05703 0.29375 -0.05455 0.29561 -0.05221 0.29723 C -0.04987 0.29908 -0.04739 0.3007 -0.04492 0.30162 C -0.0319 0.30648 -0.02513 0.30533 -0.01106 0.30602 C -0.00403 0.30533 0.00313 0.30672 0.01003 0.30417 C 0.01849 0.30116 0.02644 0.29491 0.03451 0.28936 C 0.04219 0.28426 0.05 0.2794 0.05704 0.27199 C 0.06927 0.25926 0.08308 0.23843 0.0918 0.21806 C 0.09779 0.20417 0.09909 0.19422 0.10209 0.17871 C 0.10196 0.17616 0.10209 0.17338 0.1017 0.17084 C 0.10131 0.16922 0.10039 0.16783 0.09974 0.16667 C 0.09831 0.16412 0.09519 0.15973 0.09336 0.1588 C 0.09206 0.15787 0.09076 0.15811 0.08946 0.15787 C 0.08347 0.1588 0.07761 0.1588 0.07175 0.16042 C 0.07032 0.16088 0.06914 0.1632 0.06784 0.16389 C 0.06589 0.16505 0.06394 0.16574 0.06198 0.16667 C 0.05704 0.17269 0.05248 0.17963 0.04727 0.18496 C 0.04414 0.18797 0.04089 0.19074 0.03789 0.19445 C 0.03477 0.19861 0.03112 0.20672 0.02917 0.21273 C 0.02787 0.21667 0.02657 0.22061 0.02566 0.225 C 0.02305 0.23797 0.0224 0.25348 0.02123 0.2669 C 0.02188 0.27917 0.02201 0.29236 0.02422 0.30417 C 0.02592 0.31343 0.02735 0.31366 0.0306 0.31991 C 0.03177 0.32223 0.03282 0.32477 0.03399 0.32686 C 0.03789 0.33426 0.04336 0.34283 0.04818 0.34607 L 0.06289 0.35579 C 0.06472 0.35695 0.06641 0.35834 0.06836 0.35926 C 0.07579 0.3625 0.07227 0.36111 0.07904 0.36366 L 0.09675 0.36273 C 0.09818 0.3625 0.09974 0.36227 0.10118 0.36181 C 0.10235 0.36135 0.10339 0.36042 0.10456 0.35996 C 0.10599 0.35949 0.10808 0.35926 0.10951 0.35834 C 0.11016 0.35787 0.11081 0.35695 0.11146 0.35648 C 0.11628 0.35394 0.11941 0.35394 0.1168 0.35394 " pathEditMode="relative" rAng="0" ptsTypes="AAAAAAAAAAAAAAAAAAAAAAAAAAAAAAAAAAAAAAAAAAAAAAA">
                                      <p:cBhvr>
                                        <p:cTn id="15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" y="15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C26763-DC6D-3E57-9B31-7AD2D9BD7CDD}"/>
              </a:ext>
            </a:extLst>
          </p:cNvPr>
          <p:cNvSpPr txBox="1"/>
          <p:nvPr/>
        </p:nvSpPr>
        <p:spPr>
          <a:xfrm>
            <a:off x="107211" y="2634129"/>
            <a:ext cx="1470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&lt;Trace&gt;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2B71E-AD1C-3280-2726-2FE91BB6E826}"/>
              </a:ext>
            </a:extLst>
          </p:cNvPr>
          <p:cNvSpPr txBox="1"/>
          <p:nvPr/>
        </p:nvSpPr>
        <p:spPr>
          <a:xfrm>
            <a:off x="1488141" y="2652081"/>
            <a:ext cx="3642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Welding [time]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3E60B7-201A-BE12-1133-B06E6098797F}"/>
              </a:ext>
            </a:extLst>
          </p:cNvPr>
          <p:cNvSpPr txBox="1"/>
          <p:nvPr/>
        </p:nvSpPr>
        <p:spPr>
          <a:xfrm>
            <a:off x="1488141" y="5105504"/>
            <a:ext cx="3642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Welding [time]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1A5E3-3677-30AF-F623-ABED0E637718}"/>
              </a:ext>
            </a:extLst>
          </p:cNvPr>
          <p:cNvSpPr txBox="1"/>
          <p:nvPr/>
        </p:nvSpPr>
        <p:spPr>
          <a:xfrm>
            <a:off x="1488141" y="3260208"/>
            <a:ext cx="3642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Welding [time]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8355E-B9BC-63E9-A5F0-44B1CFE47564}"/>
              </a:ext>
            </a:extLst>
          </p:cNvPr>
          <p:cNvSpPr txBox="1"/>
          <p:nvPr/>
        </p:nvSpPr>
        <p:spPr>
          <a:xfrm>
            <a:off x="1488141" y="3868335"/>
            <a:ext cx="3642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Welding [time]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AA55B2-B33A-7867-EE82-BB04E84F2D5F}"/>
              </a:ext>
            </a:extLst>
          </p:cNvPr>
          <p:cNvSpPr txBox="1"/>
          <p:nvPr/>
        </p:nvSpPr>
        <p:spPr>
          <a:xfrm>
            <a:off x="1488141" y="4476462"/>
            <a:ext cx="3642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Welding [time]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6FAD26-B50B-2FDF-48D0-9B76344FBA64}"/>
              </a:ext>
            </a:extLst>
          </p:cNvPr>
          <p:cNvSpPr txBox="1"/>
          <p:nvPr/>
        </p:nvSpPr>
        <p:spPr>
          <a:xfrm>
            <a:off x="4583953" y="2649118"/>
            <a:ext cx="3642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Local average [time]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80430C-4A16-E572-7610-EB4EAF9DDEFD}"/>
              </a:ext>
            </a:extLst>
          </p:cNvPr>
          <p:cNvSpPr txBox="1"/>
          <p:nvPr/>
        </p:nvSpPr>
        <p:spPr>
          <a:xfrm>
            <a:off x="4583953" y="1802664"/>
            <a:ext cx="3642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Local average [time]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E3DAEA-4483-D7A2-051E-D367EEBACC7A}"/>
              </a:ext>
            </a:extLst>
          </p:cNvPr>
          <p:cNvSpPr txBox="1"/>
          <p:nvPr/>
        </p:nvSpPr>
        <p:spPr>
          <a:xfrm>
            <a:off x="4583953" y="1065386"/>
            <a:ext cx="3642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Local average [time]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6BF6C6-AAFC-0998-52A3-5FE277A5C2D9}"/>
              </a:ext>
            </a:extLst>
          </p:cNvPr>
          <p:cNvSpPr txBox="1"/>
          <p:nvPr/>
        </p:nvSpPr>
        <p:spPr>
          <a:xfrm>
            <a:off x="4583953" y="3551667"/>
            <a:ext cx="3642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Local average [time]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72CC81-DE06-1CA1-BDDF-F9E4D49BD686}"/>
              </a:ext>
            </a:extLst>
          </p:cNvPr>
          <p:cNvSpPr txBox="1"/>
          <p:nvPr/>
        </p:nvSpPr>
        <p:spPr>
          <a:xfrm>
            <a:off x="4583953" y="4329318"/>
            <a:ext cx="3642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Local average [time]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5E9BC2-D9E2-D091-F0C0-F8EE7E5BBF8C}"/>
              </a:ext>
            </a:extLst>
          </p:cNvPr>
          <p:cNvSpPr txBox="1"/>
          <p:nvPr/>
        </p:nvSpPr>
        <p:spPr>
          <a:xfrm>
            <a:off x="4758765" y="2640550"/>
            <a:ext cx="267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Global Average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67133B-5C2E-856F-73EC-92A7C90194B2}"/>
              </a:ext>
            </a:extLst>
          </p:cNvPr>
          <p:cNvSpPr txBox="1"/>
          <p:nvPr/>
        </p:nvSpPr>
        <p:spPr>
          <a:xfrm>
            <a:off x="690282" y="1802664"/>
            <a:ext cx="3642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Local average [time]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BDFAF6-AAE3-2B18-C5B2-35824874FECF}"/>
              </a:ext>
            </a:extLst>
          </p:cNvPr>
          <p:cNvSpPr txBox="1"/>
          <p:nvPr/>
        </p:nvSpPr>
        <p:spPr>
          <a:xfrm>
            <a:off x="690282" y="1065386"/>
            <a:ext cx="3642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Local average [time]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F9E5704-24AA-A764-6608-402B1BF33E92}"/>
              </a:ext>
            </a:extLst>
          </p:cNvPr>
          <p:cNvGrpSpPr/>
          <p:nvPr/>
        </p:nvGrpSpPr>
        <p:grpSpPr>
          <a:xfrm>
            <a:off x="6024283" y="839018"/>
            <a:ext cx="914400" cy="914400"/>
            <a:chOff x="5567082" y="897013"/>
            <a:chExt cx="914400" cy="914400"/>
          </a:xfrm>
        </p:grpSpPr>
        <p:pic>
          <p:nvPicPr>
            <p:cNvPr id="24" name="Graphic 23" descr="Caret Up with solid fill">
              <a:extLst>
                <a:ext uri="{FF2B5EF4-FFF2-40B4-BE49-F238E27FC236}">
                  <a16:creationId xmlns:a16="http://schemas.microsoft.com/office/drawing/2014/main" id="{1C73C770-36F4-1C2D-E6FE-52B23BB2C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5567082" y="897013"/>
              <a:ext cx="914400" cy="914400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ED14428-CCCF-F475-F331-82CB9113A999}"/>
                </a:ext>
              </a:extLst>
            </p:cNvPr>
            <p:cNvSpPr/>
            <p:nvPr/>
          </p:nvSpPr>
          <p:spPr>
            <a:xfrm rot="2538050">
              <a:off x="5745921" y="1536112"/>
              <a:ext cx="370541" cy="82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E569A97-825F-F538-F76B-4F5C3839E9C3}"/>
              </a:ext>
            </a:extLst>
          </p:cNvPr>
          <p:cNvGrpSpPr/>
          <p:nvPr/>
        </p:nvGrpSpPr>
        <p:grpSpPr>
          <a:xfrm>
            <a:off x="6024283" y="1542324"/>
            <a:ext cx="914400" cy="914400"/>
            <a:chOff x="5567082" y="897013"/>
            <a:chExt cx="914400" cy="914400"/>
          </a:xfrm>
        </p:grpSpPr>
        <p:pic>
          <p:nvPicPr>
            <p:cNvPr id="29" name="Graphic 28" descr="Caret Up with solid fill">
              <a:extLst>
                <a:ext uri="{FF2B5EF4-FFF2-40B4-BE49-F238E27FC236}">
                  <a16:creationId xmlns:a16="http://schemas.microsoft.com/office/drawing/2014/main" id="{38FF087F-9C2B-8467-0413-5B553A334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5567082" y="897013"/>
              <a:ext cx="914400" cy="914400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DBC7B93-ECF9-FFA3-A24F-6FC5B1522BF6}"/>
                </a:ext>
              </a:extLst>
            </p:cNvPr>
            <p:cNvSpPr/>
            <p:nvPr/>
          </p:nvSpPr>
          <p:spPr>
            <a:xfrm rot="2538050">
              <a:off x="5745921" y="1536112"/>
              <a:ext cx="370541" cy="82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740EC49-2208-20B4-C585-8CCB4CB3F55E}"/>
              </a:ext>
            </a:extLst>
          </p:cNvPr>
          <p:cNvGrpSpPr/>
          <p:nvPr/>
        </p:nvGrpSpPr>
        <p:grpSpPr>
          <a:xfrm rot="10182372">
            <a:off x="5949943" y="2358636"/>
            <a:ext cx="914400" cy="914400"/>
            <a:chOff x="5567082" y="897013"/>
            <a:chExt cx="914400" cy="914400"/>
          </a:xfrm>
        </p:grpSpPr>
        <p:pic>
          <p:nvPicPr>
            <p:cNvPr id="32" name="Graphic 31" descr="Caret Up with solid fill">
              <a:extLst>
                <a:ext uri="{FF2B5EF4-FFF2-40B4-BE49-F238E27FC236}">
                  <a16:creationId xmlns:a16="http://schemas.microsoft.com/office/drawing/2014/main" id="{86747422-7D6C-2388-0666-F3EBF2A82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5567082" y="897013"/>
              <a:ext cx="914400" cy="914400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E578EEB-9528-0719-478F-334AFCA01A97}"/>
                </a:ext>
              </a:extLst>
            </p:cNvPr>
            <p:cNvSpPr/>
            <p:nvPr/>
          </p:nvSpPr>
          <p:spPr>
            <a:xfrm rot="8129279">
              <a:off x="5758660" y="1126584"/>
              <a:ext cx="370541" cy="82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FD8BFCF-24D8-5769-DC70-88A6050FA2FC}"/>
              </a:ext>
            </a:extLst>
          </p:cNvPr>
          <p:cNvSpPr txBox="1"/>
          <p:nvPr/>
        </p:nvSpPr>
        <p:spPr>
          <a:xfrm>
            <a:off x="582704" y="3501498"/>
            <a:ext cx="12039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  <a:latin typeface="Comfortaa" pitchFamily="2" charset="0"/>
              </a:rPr>
              <a:t>In this log, the highest event time was ‘Welding’, therefore it is the key bottleneck</a:t>
            </a:r>
            <a:endParaRPr lang="en-US" sz="2400" b="1" dirty="0">
              <a:solidFill>
                <a:schemeClr val="accent2"/>
              </a:solidFill>
              <a:latin typeface="Comforta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1D93B0-D138-1056-1C31-791805DD9B3B}"/>
              </a:ext>
            </a:extLst>
          </p:cNvPr>
          <p:cNvSpPr txBox="1"/>
          <p:nvPr/>
        </p:nvSpPr>
        <p:spPr>
          <a:xfrm>
            <a:off x="690282" y="2631166"/>
            <a:ext cx="3642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Local average [time]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13CDED-D9B4-059E-9398-45DFBDBE8786}"/>
              </a:ext>
            </a:extLst>
          </p:cNvPr>
          <p:cNvSpPr txBox="1"/>
          <p:nvPr/>
        </p:nvSpPr>
        <p:spPr>
          <a:xfrm>
            <a:off x="107211" y="3246952"/>
            <a:ext cx="1470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&lt;Trace&gt;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84541-A9A4-437B-2DC9-A789F8BD5044}"/>
              </a:ext>
            </a:extLst>
          </p:cNvPr>
          <p:cNvSpPr txBox="1"/>
          <p:nvPr/>
        </p:nvSpPr>
        <p:spPr>
          <a:xfrm>
            <a:off x="107211" y="3859775"/>
            <a:ext cx="1470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&lt;Trace&gt;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00BAD7-6BF0-A650-DC96-127B683EFB7E}"/>
              </a:ext>
            </a:extLst>
          </p:cNvPr>
          <p:cNvSpPr txBox="1"/>
          <p:nvPr/>
        </p:nvSpPr>
        <p:spPr>
          <a:xfrm>
            <a:off x="107211" y="4459342"/>
            <a:ext cx="1470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&lt;Trace&gt;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8C9A29-F9E6-C293-D2B0-D1A8C97C8334}"/>
              </a:ext>
            </a:extLst>
          </p:cNvPr>
          <p:cNvSpPr txBox="1"/>
          <p:nvPr/>
        </p:nvSpPr>
        <p:spPr>
          <a:xfrm>
            <a:off x="107211" y="5088421"/>
            <a:ext cx="1470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mfortaa" pitchFamily="2" charset="0"/>
              </a:rPr>
              <a:t>&lt;Trace&gt;</a:t>
            </a:r>
            <a:endParaRPr lang="en-US" sz="2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1F57A5-9B13-D707-B78A-7EED3BBC6DBC}"/>
              </a:ext>
            </a:extLst>
          </p:cNvPr>
          <p:cNvSpPr txBox="1"/>
          <p:nvPr/>
        </p:nvSpPr>
        <p:spPr>
          <a:xfrm>
            <a:off x="216682" y="208015"/>
            <a:ext cx="11172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mfortaa" pitchFamily="2" charset="0"/>
              </a:rPr>
              <a:t>How do we identify a bottleneck ?</a:t>
            </a:r>
            <a:r>
              <a:rPr lang="en-GB" dirty="0">
                <a:solidFill>
                  <a:schemeClr val="bg1"/>
                </a:solidFill>
                <a:latin typeface="Comfortaa" pitchFamily="2" charset="0"/>
              </a:rPr>
              <a:t> (A point of congestion in a production system that slows down the over-all process)</a:t>
            </a:r>
            <a:endParaRPr lang="en-US" dirty="0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655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7037E-7 L 0.23985 -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92" y="-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22222E-6 L 0.23789 -0.0898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-449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81481E-6 L 0.23685 -0.1791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36" y="-895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59259E-6 L 0.23881 -0.2678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40" y="-1340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7.40741E-7 L 0.23789 -0.3571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-17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11111E-6 L 0.00117 0.23194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11597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22222E-6 L 0.00013 0.12453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27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11111E-6 L -0.00091 -0.13148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6574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4.81481E-6 L -0.00091 -0.24398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12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0.27474 -0.22778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37" y="-1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000"/>
                            </p:stCondLst>
                            <p:childTnLst>
                              <p:par>
                                <p:cTn id="10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14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474 -0.22778 L 0.27604 -0.12037 " pathEditMode="relative" rAng="0" ptsTypes="AA">
                                      <p:cBhvr>
                                        <p:cTn id="1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500"/>
                            </p:stCondLst>
                            <p:childTnLst>
                              <p:par>
                                <p:cTn id="12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700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7500"/>
                            </p:stCondLst>
                            <p:childTnLst>
                              <p:par>
                                <p:cTn id="129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604 -0.12037 L 0.27643 0.00579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9500"/>
                            </p:stCondLst>
                            <p:childTnLst>
                              <p:par>
                                <p:cTn id="1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6" presetID="19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3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50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2" grpId="0"/>
      <p:bldP spid="12" grpId="1"/>
      <p:bldP spid="13" grpId="0"/>
      <p:bldP spid="13" grpId="1"/>
      <p:bldP spid="13" grpId="2"/>
      <p:bldP spid="14" grpId="0"/>
      <p:bldP spid="14" grpId="1"/>
      <p:bldP spid="14" grpId="2"/>
      <p:bldP spid="15" grpId="0"/>
      <p:bldP spid="15" grpId="1"/>
      <p:bldP spid="15" grpId="2"/>
      <p:bldP spid="16" grpId="0"/>
      <p:bldP spid="16" grpId="1"/>
      <p:bldP spid="16" grpId="2"/>
      <p:bldP spid="17" grpId="0"/>
      <p:bldP spid="17" grpId="1"/>
      <p:bldP spid="17" grpId="2"/>
      <p:bldP spid="17" grpId="3"/>
      <p:bldP spid="18" grpId="0"/>
      <p:bldP spid="19" grpId="0"/>
      <p:bldP spid="35" grpId="0"/>
      <p:bldP spid="27" grpId="0" build="allAtOnce"/>
      <p:bldP spid="27" grpId="1" build="allAtOnce"/>
      <p:bldP spid="2" grpId="0"/>
      <p:bldP spid="3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1B9B23-2C48-79ED-F129-8B6B42C9C677}"/>
              </a:ext>
            </a:extLst>
          </p:cNvPr>
          <p:cNvSpPr txBox="1"/>
          <p:nvPr/>
        </p:nvSpPr>
        <p:spPr>
          <a:xfrm>
            <a:off x="4281646" y="45928"/>
            <a:ext cx="4582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mfortaa" pitchFamily="2" charset="0"/>
              </a:rPr>
              <a:t>Some analytics we computed</a:t>
            </a:r>
            <a:endParaRPr lang="en-US" dirty="0">
              <a:solidFill>
                <a:schemeClr val="accent2"/>
              </a:solidFill>
              <a:latin typeface="Comfortaa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2E63794-D441-8BD2-88AA-3AD5752AD4B4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1542146" y="2331428"/>
            <a:ext cx="3551728" cy="5255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56D0D884-74CA-D611-5193-00C53B59177D}"/>
              </a:ext>
            </a:extLst>
          </p:cNvPr>
          <p:cNvSpPr/>
          <p:nvPr/>
        </p:nvSpPr>
        <p:spPr>
          <a:xfrm>
            <a:off x="2889197" y="264032"/>
            <a:ext cx="962213" cy="962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Comfortaa" pitchFamily="2" charset="0"/>
              </a:rPr>
              <a:t>Arrival</a:t>
            </a:r>
            <a:endParaRPr lang="en-US" sz="12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FF30E6E-10EA-9E64-9036-9339DB2BA072}"/>
              </a:ext>
            </a:extLst>
          </p:cNvPr>
          <p:cNvSpPr/>
          <p:nvPr/>
        </p:nvSpPr>
        <p:spPr>
          <a:xfrm>
            <a:off x="2889196" y="5609985"/>
            <a:ext cx="1084730" cy="10847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omfortaa" pitchFamily="2" charset="0"/>
              </a:rPr>
              <a:t>Drain</a:t>
            </a:r>
            <a:endParaRPr lang="en-US" sz="1400" dirty="0">
              <a:latin typeface="Comfortaa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A6BD82F-F4F5-83CD-67DC-9623BA452555}"/>
              </a:ext>
            </a:extLst>
          </p:cNvPr>
          <p:cNvSpPr/>
          <p:nvPr/>
        </p:nvSpPr>
        <p:spPr>
          <a:xfrm>
            <a:off x="431730" y="1828779"/>
            <a:ext cx="1110416" cy="11104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Comfortaa" pitchFamily="2" charset="0"/>
              </a:rPr>
              <a:t>Welding</a:t>
            </a:r>
            <a:endParaRPr lang="en-US" sz="11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41F2C5-5177-01D3-F98F-6058DE948DA3}"/>
              </a:ext>
            </a:extLst>
          </p:cNvPr>
          <p:cNvSpPr/>
          <p:nvPr/>
        </p:nvSpPr>
        <p:spPr>
          <a:xfrm>
            <a:off x="5093874" y="1828779"/>
            <a:ext cx="1005298" cy="10052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Comfortaa" pitchFamily="2" charset="0"/>
              </a:rPr>
              <a:t>Sawing</a:t>
            </a:r>
            <a:endParaRPr lang="en-US" sz="1100" dirty="0">
              <a:latin typeface="Comfortaa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8FE93D-D7FE-E66F-5A14-E704B11C076A}"/>
              </a:ext>
            </a:extLst>
          </p:cNvPr>
          <p:cNvSpPr/>
          <p:nvPr/>
        </p:nvSpPr>
        <p:spPr>
          <a:xfrm>
            <a:off x="424261" y="3494403"/>
            <a:ext cx="1117885" cy="11178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Comfortaa" pitchFamily="2" charset="0"/>
              </a:rPr>
              <a:t>Painting</a:t>
            </a:r>
            <a:endParaRPr lang="en-US" sz="1100" dirty="0">
              <a:latin typeface="Comfortaa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95BD23-0FFC-6873-CEC4-786A20C3CD87}"/>
              </a:ext>
            </a:extLst>
          </p:cNvPr>
          <p:cNvSpPr/>
          <p:nvPr/>
        </p:nvSpPr>
        <p:spPr>
          <a:xfrm>
            <a:off x="5099930" y="3494403"/>
            <a:ext cx="1065328" cy="10653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Comfortaa" pitchFamily="2" charset="0"/>
              </a:rPr>
              <a:t>Drilling</a:t>
            </a:r>
            <a:endParaRPr lang="en-US" sz="1100" dirty="0">
              <a:latin typeface="Comfortaa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F1F5DF-9C58-5B94-D818-3A46762145CC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986938" y="1226245"/>
            <a:ext cx="2383366" cy="60253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C24736-6A55-23D3-22F7-2DC86E8A0FD5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3370304" y="1226245"/>
            <a:ext cx="2226219" cy="60253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8F9BC6-5904-CCB5-0545-80658E8D7AFE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 flipH="1">
            <a:off x="983204" y="1226245"/>
            <a:ext cx="2387100" cy="226815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6B69BE-899B-EBEA-0AA5-B9022B97CED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>
            <a:off x="3370304" y="1226245"/>
            <a:ext cx="2262290" cy="226815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6C8DB4-8202-E3C6-07B7-FDAAD1D6F8C7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 flipH="1">
            <a:off x="983204" y="2939195"/>
            <a:ext cx="3734" cy="55520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BD3CE52-8262-577C-BC08-93FCDD06D9AB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>
            <a:off x="5596523" y="2834077"/>
            <a:ext cx="36071" cy="66032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0730B8-3A72-36E5-224A-E48C38B5A3D4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1542146" y="4027067"/>
            <a:ext cx="3557784" cy="2627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1B83A67-8AA6-E699-A677-6D3FF00B50E7}"/>
              </a:ext>
            </a:extLst>
          </p:cNvPr>
          <p:cNvCxnSpPr>
            <a:cxnSpLocks/>
            <a:stCxn id="6" idx="5"/>
            <a:endCxn id="9" idx="1"/>
          </p:cNvCxnSpPr>
          <p:nvPr/>
        </p:nvCxnSpPr>
        <p:spPr>
          <a:xfrm>
            <a:off x="1379529" y="2776578"/>
            <a:ext cx="3876415" cy="87383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FA535DB-0CB6-65BE-3B75-1465715F602B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378436" y="2686855"/>
            <a:ext cx="3862660" cy="97125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83E847E-DBAA-7342-7D11-2B4FC37AD8CE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>
            <a:off x="986938" y="2939195"/>
            <a:ext cx="2444623" cy="267079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B086A82-B1F3-FA9E-0D97-E99A72F2A225}"/>
              </a:ext>
            </a:extLst>
          </p:cNvPr>
          <p:cNvCxnSpPr>
            <a:cxnSpLocks/>
            <a:stCxn id="8" idx="4"/>
            <a:endCxn id="5" idx="0"/>
          </p:cNvCxnSpPr>
          <p:nvPr/>
        </p:nvCxnSpPr>
        <p:spPr>
          <a:xfrm>
            <a:off x="983204" y="4612288"/>
            <a:ext cx="2448357" cy="997697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ABB5FF-362D-C8E2-9BD8-34889FE4359F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 flipH="1">
            <a:off x="3431561" y="2834077"/>
            <a:ext cx="2164962" cy="277590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F82F9FA-4885-3543-2192-8B5AA8A0E189}"/>
              </a:ext>
            </a:extLst>
          </p:cNvPr>
          <p:cNvCxnSpPr>
            <a:cxnSpLocks/>
            <a:stCxn id="9" idx="4"/>
            <a:endCxn id="5" idx="0"/>
          </p:cNvCxnSpPr>
          <p:nvPr/>
        </p:nvCxnSpPr>
        <p:spPr>
          <a:xfrm flipH="1">
            <a:off x="3431561" y="4559731"/>
            <a:ext cx="2201033" cy="105025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C85CA85B-58B9-7977-2DDA-D46EEC0B560F}"/>
              </a:ext>
            </a:extLst>
          </p:cNvPr>
          <p:cNvSpPr/>
          <p:nvPr/>
        </p:nvSpPr>
        <p:spPr>
          <a:xfrm rot="8135836">
            <a:off x="5510589" y="3399306"/>
            <a:ext cx="179720" cy="123170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Isosceles Triangle 113">
            <a:extLst>
              <a:ext uri="{FF2B5EF4-FFF2-40B4-BE49-F238E27FC236}">
                <a16:creationId xmlns:a16="http://schemas.microsoft.com/office/drawing/2014/main" id="{E3363D3C-C39B-0CAD-8F40-36CB6F8D89F5}"/>
              </a:ext>
            </a:extLst>
          </p:cNvPr>
          <p:cNvSpPr/>
          <p:nvPr/>
        </p:nvSpPr>
        <p:spPr>
          <a:xfrm>
            <a:off x="5515321" y="2827780"/>
            <a:ext cx="179720" cy="123170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Isosceles Triangle 114">
            <a:extLst>
              <a:ext uri="{FF2B5EF4-FFF2-40B4-BE49-F238E27FC236}">
                <a16:creationId xmlns:a16="http://schemas.microsoft.com/office/drawing/2014/main" id="{0C2832E5-3E6F-D930-F7FE-C6A49F3E5FB1}"/>
              </a:ext>
            </a:extLst>
          </p:cNvPr>
          <p:cNvSpPr/>
          <p:nvPr/>
        </p:nvSpPr>
        <p:spPr>
          <a:xfrm rot="16374890">
            <a:off x="1518361" y="2326136"/>
            <a:ext cx="179720" cy="123170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Isosceles Triangle 115">
            <a:extLst>
              <a:ext uri="{FF2B5EF4-FFF2-40B4-BE49-F238E27FC236}">
                <a16:creationId xmlns:a16="http://schemas.microsoft.com/office/drawing/2014/main" id="{6606B334-7DEB-F9F9-5A2C-7C7D9F8D9301}"/>
              </a:ext>
            </a:extLst>
          </p:cNvPr>
          <p:cNvSpPr/>
          <p:nvPr/>
        </p:nvSpPr>
        <p:spPr>
          <a:xfrm rot="10501286">
            <a:off x="891478" y="3376778"/>
            <a:ext cx="179720" cy="123170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Isosceles Triangle 116">
            <a:extLst>
              <a:ext uri="{FF2B5EF4-FFF2-40B4-BE49-F238E27FC236}">
                <a16:creationId xmlns:a16="http://schemas.microsoft.com/office/drawing/2014/main" id="{A1431717-EA2D-DAD8-77C1-76853E3FD36B}"/>
              </a:ext>
            </a:extLst>
          </p:cNvPr>
          <p:cNvSpPr/>
          <p:nvPr/>
        </p:nvSpPr>
        <p:spPr>
          <a:xfrm rot="7020889">
            <a:off x="3280442" y="5527098"/>
            <a:ext cx="179720" cy="123170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3">
            <a:extLst>
              <a:ext uri="{FF2B5EF4-FFF2-40B4-BE49-F238E27FC236}">
                <a16:creationId xmlns:a16="http://schemas.microsoft.com/office/drawing/2014/main" id="{0D1F260B-E5CC-1C45-D73F-6EE919D49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444" y="1784356"/>
            <a:ext cx="538033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Filename: 412.xes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forta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Path: ['Arrival', 'Drilling', 'Sawing', 'Welding', 'Painting', 'Drain’]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forta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Duration: 427.80397288377617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forta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Dataframe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 Event Name	 Local Average Duration (Seconds)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 0 Arrival 		 0 .000000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1 Transport 	</a:t>
            </a:r>
            <a:r>
              <a:rPr lang="en-US" altLang="en-US" sz="1200" dirty="0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2866.071446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2 Welding 		 131.670648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 3 Painting 		 123.751529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 4 Drilling 		 82.242519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 5 Drain 		 0.000000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  <a:t> 6 Sawing 		 90.139278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fortaa" pitchFamily="2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076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4" grpId="0" animBg="1"/>
      <p:bldP spid="115" grpId="0" animBg="1"/>
      <p:bldP spid="116" grpId="0" animBg="1"/>
      <p:bldP spid="1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75A7-628D-91A2-B7FB-E2DD5810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F3378-D732-4DE6-27E3-CCFE36CF9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D4FE84-D457-3554-BF77-688A0487B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761"/>
            <a:ext cx="12236852" cy="69155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EC3ACF-48FA-D519-E503-86E25C797D6C}"/>
              </a:ext>
            </a:extLst>
          </p:cNvPr>
          <p:cNvSpPr/>
          <p:nvPr/>
        </p:nvSpPr>
        <p:spPr>
          <a:xfrm>
            <a:off x="5675427" y="1993476"/>
            <a:ext cx="495561" cy="3720568"/>
          </a:xfrm>
          <a:prstGeom prst="rect">
            <a:avLst/>
          </a:prstGeom>
          <a:solidFill>
            <a:srgbClr val="97CCE8"/>
          </a:solidFill>
          <a:ln>
            <a:solidFill>
              <a:srgbClr val="97CC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92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2A65B5-1B6A-D021-4319-29DBCA099581}"/>
              </a:ext>
            </a:extLst>
          </p:cNvPr>
          <p:cNvSpPr txBox="1"/>
          <p:nvPr/>
        </p:nvSpPr>
        <p:spPr>
          <a:xfrm>
            <a:off x="224870" y="25454"/>
            <a:ext cx="10925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  <a:latin typeface="Comfortaa" pitchFamily="2" charset="0"/>
              </a:rPr>
              <a:t>Live conformance checking implementation &amp; Predicting end time of the trace</a:t>
            </a:r>
            <a:endParaRPr lang="en-US" dirty="0">
              <a:solidFill>
                <a:srgbClr val="92D050"/>
              </a:solidFill>
              <a:latin typeface="Comforta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CD47F-8C89-90AB-BAAF-B3638E37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3317B-F452-6D6E-5A73-C53F817AA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23E1B-D248-B4BC-DC09-F6D2D0EC58E7}"/>
              </a:ext>
            </a:extLst>
          </p:cNvPr>
          <p:cNvSpPr txBox="1"/>
          <p:nvPr/>
        </p:nvSpPr>
        <p:spPr>
          <a:xfrm>
            <a:off x="431522" y="460070"/>
            <a:ext cx="112113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92D050"/>
                </a:solidFill>
                <a:effectLst/>
                <a:latin typeface="Comfortaa" pitchFamily="2" charset="0"/>
              </a:rPr>
              <a:t>Actions and their average durations:</a:t>
            </a:r>
            <a:endParaRPr lang="en-GB" sz="1600" b="0" dirty="0">
              <a:solidFill>
                <a:schemeClr val="bg1"/>
              </a:solidFill>
              <a:effectLst/>
              <a:latin typeface="Comfortaa" pitchFamily="2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1" i="0" u="none" strike="noStrike" dirty="0">
                <a:solidFill>
                  <a:schemeClr val="bg1"/>
                </a:solidFill>
                <a:effectLst/>
                <a:latin typeface="Comfortaa" pitchFamily="2" charset="0"/>
              </a:rPr>
              <a:t>Action(Arrival, Duration: 0)</a:t>
            </a:r>
            <a:endParaRPr lang="en-GB" sz="1600" b="0" dirty="0">
              <a:solidFill>
                <a:schemeClr val="bg1"/>
              </a:solidFill>
              <a:effectLst/>
              <a:latin typeface="Comfortaa" pitchFamily="2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1" i="0" u="none" strike="noStrike" dirty="0">
                <a:solidFill>
                  <a:schemeClr val="bg1"/>
                </a:solidFill>
                <a:effectLst/>
                <a:latin typeface="Comfortaa" pitchFamily="2" charset="0"/>
              </a:rPr>
              <a:t>Action(Welding, Duration: 353.43)</a:t>
            </a:r>
            <a:endParaRPr lang="en-GB" sz="1600" b="0" dirty="0">
              <a:solidFill>
                <a:schemeClr val="bg1"/>
              </a:solidFill>
              <a:effectLst/>
              <a:latin typeface="Comfortaa" pitchFamily="2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1" i="0" u="none" strike="noStrike" dirty="0">
                <a:solidFill>
                  <a:schemeClr val="bg1"/>
                </a:solidFill>
                <a:effectLst/>
                <a:latin typeface="Comfortaa" pitchFamily="2" charset="0"/>
              </a:rPr>
              <a:t>Action(Painting, Duration: 298.45)</a:t>
            </a:r>
            <a:endParaRPr lang="en-GB" sz="1600" b="0" dirty="0">
              <a:solidFill>
                <a:schemeClr val="bg1"/>
              </a:solidFill>
              <a:effectLst/>
              <a:latin typeface="Comfortaa" pitchFamily="2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1" i="0" u="none" strike="noStrike" dirty="0">
                <a:solidFill>
                  <a:schemeClr val="bg1"/>
                </a:solidFill>
                <a:effectLst/>
                <a:latin typeface="Comfortaa" pitchFamily="2" charset="0"/>
              </a:rPr>
              <a:t>Action(Sawing, Duration: 97.95)</a:t>
            </a:r>
            <a:endParaRPr lang="en-GB" sz="1600" b="0" dirty="0">
              <a:solidFill>
                <a:schemeClr val="bg1"/>
              </a:solidFill>
              <a:effectLst/>
              <a:latin typeface="Comfortaa" pitchFamily="2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1" i="0" u="none" strike="noStrike" dirty="0">
                <a:solidFill>
                  <a:schemeClr val="bg1"/>
                </a:solidFill>
                <a:effectLst/>
                <a:latin typeface="Comfortaa" pitchFamily="2" charset="0"/>
              </a:rPr>
              <a:t>Action(Drilling, Duration: 91.54)</a:t>
            </a:r>
            <a:endParaRPr lang="en-GB" sz="1600" b="0" dirty="0">
              <a:solidFill>
                <a:schemeClr val="bg1"/>
              </a:solidFill>
              <a:effectLst/>
              <a:latin typeface="Comfortaa" pitchFamily="2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1" i="0" u="none" strike="noStrike" dirty="0">
                <a:solidFill>
                  <a:schemeClr val="bg1"/>
                </a:solidFill>
                <a:effectLst/>
                <a:latin typeface="Comfortaa" pitchFamily="2" charset="0"/>
              </a:rPr>
              <a:t>Action(Drain, Duration: 0)</a:t>
            </a:r>
            <a:endParaRPr lang="en-GB" sz="1600" b="0" dirty="0">
              <a:solidFill>
                <a:schemeClr val="bg1"/>
              </a:solidFill>
              <a:effectLst/>
              <a:latin typeface="Comfortaa" pitchFamily="2" charset="0"/>
            </a:endParaRPr>
          </a:p>
          <a:p>
            <a:br>
              <a:rPr lang="en-GB" sz="1600" dirty="0">
                <a:solidFill>
                  <a:schemeClr val="bg1"/>
                </a:solidFill>
                <a:latin typeface="Comfortaa" pitchFamily="2" charset="0"/>
              </a:rPr>
            </a:br>
            <a:endParaRPr lang="en-US" sz="16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ED4BE-4E78-E72A-EF14-1915A0F660EF}"/>
              </a:ext>
            </a:extLst>
          </p:cNvPr>
          <p:cNvSpPr txBox="1"/>
          <p:nvPr/>
        </p:nvSpPr>
        <p:spPr>
          <a:xfrm>
            <a:off x="413717" y="2867123"/>
            <a:ext cx="112291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0" i="0" u="none" strike="noStrike" dirty="0">
                <a:solidFill>
                  <a:srgbClr val="92D050"/>
                </a:solidFill>
                <a:effectLst/>
                <a:latin typeface="Comfortaa" pitchFamily="2" charset="0"/>
              </a:rPr>
              <a:t>Allen’s Interval Algebra </a:t>
            </a:r>
            <a:r>
              <a:rPr lang="en-GB" sz="1600" b="0" i="0" u="none" strike="noStrike" dirty="0">
                <a:solidFill>
                  <a:schemeClr val="bg1"/>
                </a:solidFill>
                <a:effectLst/>
                <a:latin typeface="Comfortaa" pitchFamily="2" charset="0"/>
              </a:rPr>
              <a:t>we defined how the actions should be performed and this is one of the examples: </a:t>
            </a:r>
          </a:p>
          <a:p>
            <a:r>
              <a:rPr lang="en-GB" sz="1600" b="1" i="0" u="none" strike="noStrike" dirty="0">
                <a:solidFill>
                  <a:schemeClr val="bg1"/>
                </a:solidFill>
                <a:effectLst/>
                <a:latin typeface="Comfortaa" pitchFamily="2" charset="0"/>
              </a:rPr>
              <a:t>Meet(Arrival, Transport1)    -&gt; Meet(Transport1, Drilling)    -&gt; Meet(Drilling, Transport2) -&gt; Meet(Transport2, Sawing)   -&gt; Meet(Sawing, Transport3)   -&gt; Meet(Transport3, Welding) -&gt; Meet(Welding, Transport4) -&gt; Meet(Transport4, Painting) -&gt; Meet(Painting, Transport5) -&gt; Meet(Transport5, Drain).</a:t>
            </a:r>
            <a:endParaRPr lang="en-US" sz="16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EA3E54-1B18-752C-FFB0-3B0932A5C43D}"/>
              </a:ext>
            </a:extLst>
          </p:cNvPr>
          <p:cNvSpPr/>
          <p:nvPr/>
        </p:nvSpPr>
        <p:spPr>
          <a:xfrm>
            <a:off x="0" y="0"/>
            <a:ext cx="12192000" cy="6995846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CFDAD0-C497-4A34-299C-135196759E8B}"/>
              </a:ext>
            </a:extLst>
          </p:cNvPr>
          <p:cNvSpPr txBox="1"/>
          <p:nvPr/>
        </p:nvSpPr>
        <p:spPr>
          <a:xfrm>
            <a:off x="189597" y="478885"/>
            <a:ext cx="4552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Live conformance checking</a:t>
            </a:r>
            <a:endParaRPr lang="en-US" sz="16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56088F-204F-A498-D9C7-90D35527E553}"/>
              </a:ext>
            </a:extLst>
          </p:cNvPr>
          <p:cNvSpPr txBox="1"/>
          <p:nvPr/>
        </p:nvSpPr>
        <p:spPr>
          <a:xfrm>
            <a:off x="228601" y="853108"/>
            <a:ext cx="3016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Enter the </a:t>
            </a:r>
            <a:r>
              <a:rPr lang="en-GB" sz="2000" dirty="0">
                <a:solidFill>
                  <a:srgbClr val="92D050"/>
                </a:solidFill>
                <a:latin typeface="Comfortaa" pitchFamily="2" charset="0"/>
              </a:rPr>
              <a:t>activity</a:t>
            </a:r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: </a:t>
            </a:r>
            <a:endParaRPr lang="en-US" sz="20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91DEF3-C824-6364-4E9C-9669425A6F8E}"/>
              </a:ext>
            </a:extLst>
          </p:cNvPr>
          <p:cNvSpPr/>
          <p:nvPr/>
        </p:nvSpPr>
        <p:spPr>
          <a:xfrm>
            <a:off x="228600" y="820553"/>
            <a:ext cx="6982239" cy="52677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E8569E-F401-C40D-5A30-6CBFA6C4DE60}"/>
              </a:ext>
            </a:extLst>
          </p:cNvPr>
          <p:cNvSpPr txBox="1"/>
          <p:nvPr/>
        </p:nvSpPr>
        <p:spPr>
          <a:xfrm>
            <a:off x="3198744" y="899274"/>
            <a:ext cx="2774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Arrival</a:t>
            </a:r>
            <a:endParaRPr lang="en-US" sz="16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971F20-CC7B-FC2F-BDA7-95020D4C75CC}"/>
              </a:ext>
            </a:extLst>
          </p:cNvPr>
          <p:cNvSpPr txBox="1"/>
          <p:nvPr/>
        </p:nvSpPr>
        <p:spPr>
          <a:xfrm>
            <a:off x="228600" y="1497495"/>
            <a:ext cx="5665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Enter the </a:t>
            </a:r>
            <a:r>
              <a:rPr lang="en-GB" sz="2000" dirty="0">
                <a:solidFill>
                  <a:srgbClr val="92D050"/>
                </a:solidFill>
                <a:latin typeface="Comfortaa" pitchFamily="2" charset="0"/>
              </a:rPr>
              <a:t>start time </a:t>
            </a:r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(</a:t>
            </a:r>
            <a:r>
              <a:rPr lang="en-GB" sz="2000" dirty="0" err="1">
                <a:solidFill>
                  <a:schemeClr val="bg1"/>
                </a:solidFill>
                <a:latin typeface="Comfortaa" pitchFamily="2" charset="0"/>
              </a:rPr>
              <a:t>hh:mm:ss</a:t>
            </a:r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): </a:t>
            </a:r>
            <a:endParaRPr lang="en-US" sz="20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51656D-7AFF-3B90-903F-0434043D6C1F}"/>
              </a:ext>
            </a:extLst>
          </p:cNvPr>
          <p:cNvSpPr/>
          <p:nvPr/>
        </p:nvSpPr>
        <p:spPr>
          <a:xfrm>
            <a:off x="228600" y="1464940"/>
            <a:ext cx="6982239" cy="52677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53769E-784D-5A3B-195D-DDCF85D9B402}"/>
              </a:ext>
            </a:extLst>
          </p:cNvPr>
          <p:cNvSpPr txBox="1"/>
          <p:nvPr/>
        </p:nvSpPr>
        <p:spPr>
          <a:xfrm>
            <a:off x="5325717" y="1543661"/>
            <a:ext cx="2774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12:00:00</a:t>
            </a:r>
            <a:endParaRPr lang="en-US" sz="16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815900-2FC0-BCD8-F779-4468A72E39B9}"/>
              </a:ext>
            </a:extLst>
          </p:cNvPr>
          <p:cNvSpPr txBox="1"/>
          <p:nvPr/>
        </p:nvSpPr>
        <p:spPr>
          <a:xfrm>
            <a:off x="228600" y="2146130"/>
            <a:ext cx="5580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Enter the </a:t>
            </a:r>
            <a:r>
              <a:rPr lang="en-GB" sz="2000" dirty="0">
                <a:solidFill>
                  <a:srgbClr val="92D050"/>
                </a:solidFill>
                <a:latin typeface="Comfortaa" pitchFamily="2" charset="0"/>
              </a:rPr>
              <a:t>end time </a:t>
            </a:r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(</a:t>
            </a:r>
            <a:r>
              <a:rPr lang="en-GB" sz="2000" dirty="0" err="1">
                <a:solidFill>
                  <a:schemeClr val="bg1"/>
                </a:solidFill>
                <a:latin typeface="Comfortaa" pitchFamily="2" charset="0"/>
              </a:rPr>
              <a:t>hh:mm:ss</a:t>
            </a:r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): </a:t>
            </a:r>
            <a:endParaRPr lang="en-US" sz="20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AE3E82-5AF7-0BC9-C0A1-6A93CC357182}"/>
              </a:ext>
            </a:extLst>
          </p:cNvPr>
          <p:cNvSpPr/>
          <p:nvPr/>
        </p:nvSpPr>
        <p:spPr>
          <a:xfrm>
            <a:off x="228600" y="2113575"/>
            <a:ext cx="6982239" cy="52677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014EF8-126F-193C-9B04-1C23826C2E0E}"/>
              </a:ext>
            </a:extLst>
          </p:cNvPr>
          <p:cNvSpPr txBox="1"/>
          <p:nvPr/>
        </p:nvSpPr>
        <p:spPr>
          <a:xfrm>
            <a:off x="5325717" y="2188048"/>
            <a:ext cx="2774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12:00:00</a:t>
            </a:r>
            <a:endParaRPr lang="en-US" sz="16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A36035-519D-B108-C6C8-21B706855F6C}"/>
              </a:ext>
            </a:extLst>
          </p:cNvPr>
          <p:cNvSpPr txBox="1"/>
          <p:nvPr/>
        </p:nvSpPr>
        <p:spPr>
          <a:xfrm>
            <a:off x="224870" y="5615414"/>
            <a:ext cx="91059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It took you </a:t>
            </a:r>
            <a:r>
              <a:rPr lang="en-GB" sz="1600" dirty="0">
                <a:solidFill>
                  <a:srgbClr val="92D050"/>
                </a:solidFill>
                <a:latin typeface="Comfortaa" pitchFamily="2" charset="0"/>
              </a:rPr>
              <a:t>23.05</a:t>
            </a:r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 seconds longer than expected to complete sawing</a:t>
            </a:r>
          </a:p>
          <a:p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Following actions still need to be completed: Painting, Welding, Drilling</a:t>
            </a:r>
          </a:p>
          <a:p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Based on that, the end time of the process is now </a:t>
            </a:r>
            <a:r>
              <a:rPr lang="en-GB" sz="1600" dirty="0">
                <a:solidFill>
                  <a:srgbClr val="92D050"/>
                </a:solidFill>
                <a:latin typeface="Comfortaa" pitchFamily="2" charset="0"/>
              </a:rPr>
              <a:t>12:20:27</a:t>
            </a:r>
            <a:endParaRPr lang="en-US" sz="1600" dirty="0">
              <a:solidFill>
                <a:srgbClr val="92D050"/>
              </a:solidFill>
              <a:latin typeface="Comfortaa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Comfortaa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3117BA-6E62-1866-907A-91C15F376F23}"/>
              </a:ext>
            </a:extLst>
          </p:cNvPr>
          <p:cNvSpPr txBox="1"/>
          <p:nvPr/>
        </p:nvSpPr>
        <p:spPr>
          <a:xfrm>
            <a:off x="224870" y="2690273"/>
            <a:ext cx="114954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It took you </a:t>
            </a:r>
            <a:r>
              <a:rPr lang="en-GB" sz="1600" dirty="0">
                <a:solidFill>
                  <a:srgbClr val="92D050"/>
                </a:solidFill>
                <a:latin typeface="Comfortaa" pitchFamily="2" charset="0"/>
              </a:rPr>
              <a:t>0 </a:t>
            </a:r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seconds which is the same as the average duration.</a:t>
            </a:r>
          </a:p>
          <a:p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Following actions still need to be completed: Painting, Welding, Sawing, Drilling</a:t>
            </a:r>
          </a:p>
          <a:p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Based on that, the end time of the process is now </a:t>
            </a:r>
            <a:r>
              <a:rPr lang="en-GB" sz="1600" dirty="0">
                <a:solidFill>
                  <a:srgbClr val="92D050"/>
                </a:solidFill>
                <a:latin typeface="Comfortaa" pitchFamily="2" charset="0"/>
              </a:rPr>
              <a:t>12:19:01</a:t>
            </a:r>
            <a:endParaRPr lang="en-US" sz="1600" dirty="0">
              <a:solidFill>
                <a:srgbClr val="92D050"/>
              </a:solidFill>
              <a:latin typeface="Comfortaa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0C7D74-F4BA-2298-47D1-543704B6D759}"/>
              </a:ext>
            </a:extLst>
          </p:cNvPr>
          <p:cNvSpPr txBox="1"/>
          <p:nvPr/>
        </p:nvSpPr>
        <p:spPr>
          <a:xfrm>
            <a:off x="227771" y="3652963"/>
            <a:ext cx="3016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Enter the </a:t>
            </a:r>
            <a:r>
              <a:rPr lang="en-GB" sz="2000" dirty="0">
                <a:solidFill>
                  <a:srgbClr val="92D050"/>
                </a:solidFill>
                <a:latin typeface="Comfortaa" pitchFamily="2" charset="0"/>
              </a:rPr>
              <a:t>activity</a:t>
            </a:r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: </a:t>
            </a:r>
            <a:endParaRPr lang="en-US" sz="20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EC3992-BE6D-9FDD-614E-A638CB21BF86}"/>
              </a:ext>
            </a:extLst>
          </p:cNvPr>
          <p:cNvSpPr/>
          <p:nvPr/>
        </p:nvSpPr>
        <p:spPr>
          <a:xfrm>
            <a:off x="227770" y="3620408"/>
            <a:ext cx="6982239" cy="52677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E4A43A-D478-BB95-FAF9-7DEB3BD18F23}"/>
              </a:ext>
            </a:extLst>
          </p:cNvPr>
          <p:cNvSpPr txBox="1"/>
          <p:nvPr/>
        </p:nvSpPr>
        <p:spPr>
          <a:xfrm>
            <a:off x="3197914" y="3699129"/>
            <a:ext cx="2774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Sawing</a:t>
            </a:r>
            <a:endParaRPr lang="en-US" sz="16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756AF3-B492-E755-FEB6-133FCD31F2D2}"/>
              </a:ext>
            </a:extLst>
          </p:cNvPr>
          <p:cNvSpPr txBox="1"/>
          <p:nvPr/>
        </p:nvSpPr>
        <p:spPr>
          <a:xfrm>
            <a:off x="227770" y="4297350"/>
            <a:ext cx="5665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Enter the </a:t>
            </a:r>
            <a:r>
              <a:rPr lang="en-GB" sz="2000" dirty="0">
                <a:solidFill>
                  <a:srgbClr val="92D050"/>
                </a:solidFill>
                <a:latin typeface="Comfortaa" pitchFamily="2" charset="0"/>
              </a:rPr>
              <a:t>start time </a:t>
            </a:r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(</a:t>
            </a:r>
            <a:r>
              <a:rPr lang="en-GB" sz="2000" dirty="0" err="1">
                <a:solidFill>
                  <a:schemeClr val="bg1"/>
                </a:solidFill>
                <a:latin typeface="Comfortaa" pitchFamily="2" charset="0"/>
              </a:rPr>
              <a:t>hh:mm:ss</a:t>
            </a:r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): </a:t>
            </a:r>
            <a:endParaRPr lang="en-US" sz="20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C99E7F-98BC-6409-EF59-3A20159DE66A}"/>
              </a:ext>
            </a:extLst>
          </p:cNvPr>
          <p:cNvSpPr/>
          <p:nvPr/>
        </p:nvSpPr>
        <p:spPr>
          <a:xfrm>
            <a:off x="227770" y="4264795"/>
            <a:ext cx="6982239" cy="52677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C804EE-354F-46AF-479A-086C9A2E44DA}"/>
              </a:ext>
            </a:extLst>
          </p:cNvPr>
          <p:cNvSpPr txBox="1"/>
          <p:nvPr/>
        </p:nvSpPr>
        <p:spPr>
          <a:xfrm>
            <a:off x="5324887" y="4343516"/>
            <a:ext cx="2774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12:01:03</a:t>
            </a:r>
            <a:endParaRPr lang="en-US" sz="16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BF618C-3A9B-E2F7-51C9-41572816C2BE}"/>
              </a:ext>
            </a:extLst>
          </p:cNvPr>
          <p:cNvSpPr txBox="1"/>
          <p:nvPr/>
        </p:nvSpPr>
        <p:spPr>
          <a:xfrm>
            <a:off x="250961" y="5016477"/>
            <a:ext cx="5580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Enter the </a:t>
            </a:r>
            <a:r>
              <a:rPr lang="en-GB" sz="2000" dirty="0">
                <a:solidFill>
                  <a:srgbClr val="92D050"/>
                </a:solidFill>
                <a:latin typeface="Comfortaa" pitchFamily="2" charset="0"/>
              </a:rPr>
              <a:t>end time </a:t>
            </a:r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(</a:t>
            </a:r>
            <a:r>
              <a:rPr lang="en-GB" sz="2000" dirty="0" err="1">
                <a:solidFill>
                  <a:schemeClr val="bg1"/>
                </a:solidFill>
                <a:latin typeface="Comfortaa" pitchFamily="2" charset="0"/>
              </a:rPr>
              <a:t>hh:mm:ss</a:t>
            </a:r>
            <a:r>
              <a:rPr lang="en-GB" sz="2000" dirty="0">
                <a:solidFill>
                  <a:schemeClr val="bg1"/>
                </a:solidFill>
                <a:latin typeface="Comfortaa" pitchFamily="2" charset="0"/>
              </a:rPr>
              <a:t>): </a:t>
            </a:r>
            <a:endParaRPr lang="en-US" sz="20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9F1121-F02B-FBFA-05D9-63AAE4A48712}"/>
              </a:ext>
            </a:extLst>
          </p:cNvPr>
          <p:cNvSpPr/>
          <p:nvPr/>
        </p:nvSpPr>
        <p:spPr>
          <a:xfrm>
            <a:off x="227770" y="4949874"/>
            <a:ext cx="6982239" cy="52677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4A590B-6C09-F616-0261-E23332EE4A11}"/>
              </a:ext>
            </a:extLst>
          </p:cNvPr>
          <p:cNvSpPr txBox="1"/>
          <p:nvPr/>
        </p:nvSpPr>
        <p:spPr>
          <a:xfrm>
            <a:off x="5348078" y="5058395"/>
            <a:ext cx="2774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Comfortaa" pitchFamily="2" charset="0"/>
              </a:rPr>
              <a:t>12:03:04</a:t>
            </a:r>
            <a:endParaRPr lang="en-US" sz="16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B09EAF-C94C-4682-2AE5-57A44FDB4F33}"/>
              </a:ext>
            </a:extLst>
          </p:cNvPr>
          <p:cNvSpPr txBox="1"/>
          <p:nvPr/>
        </p:nvSpPr>
        <p:spPr>
          <a:xfrm>
            <a:off x="224870" y="20978"/>
            <a:ext cx="10925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  <a:latin typeface="Comfortaa" pitchFamily="2" charset="0"/>
              </a:rPr>
              <a:t>Live conformance checking implementation &amp; Predicting end time of the trace</a:t>
            </a:r>
            <a:endParaRPr lang="en-US" dirty="0">
              <a:solidFill>
                <a:srgbClr val="92D050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510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  <p:bldP spid="27" grpId="0" animBg="1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443E460E-3660-70AB-D2DB-4344EDC98D27}"/>
              </a:ext>
            </a:extLst>
          </p:cNvPr>
          <p:cNvSpPr txBox="1"/>
          <p:nvPr/>
        </p:nvSpPr>
        <p:spPr>
          <a:xfrm>
            <a:off x="1712839" y="912518"/>
            <a:ext cx="9476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 b="0" i="0" u="none" strike="noStrike" dirty="0">
                <a:solidFill>
                  <a:schemeClr val="bg1"/>
                </a:solidFill>
                <a:effectLst/>
                <a:latin typeface="Comfortaa" pitchFamily="2" charset="0"/>
              </a:rPr>
              <a:t>Because we only know what the first and last action should be and the others can be done in any order, we could not decide on a certain job scheduling. However, if we were to write this in a formal way it would look like this:</a:t>
            </a:r>
          </a:p>
          <a:p>
            <a:pPr algn="ctr"/>
            <a:r>
              <a:rPr lang="en-GB" sz="1800" b="0" i="0" u="none" strike="noStrike" dirty="0">
                <a:solidFill>
                  <a:srgbClr val="92D050"/>
                </a:solidFill>
                <a:effectLst/>
                <a:latin typeface="Comfortaa" pitchFamily="2" charset="0"/>
              </a:rPr>
              <a:t>  Jobs({Arrival ≺ Welding, Painting, Sawing, Drilling ≺ Drain}).</a:t>
            </a:r>
            <a:endParaRPr lang="en-US" dirty="0">
              <a:solidFill>
                <a:srgbClr val="92D050"/>
              </a:solidFill>
              <a:latin typeface="Comfortaa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852C97-C53E-E083-C340-11F8F866A23F}"/>
              </a:ext>
            </a:extLst>
          </p:cNvPr>
          <p:cNvSpPr txBox="1"/>
          <p:nvPr/>
        </p:nvSpPr>
        <p:spPr>
          <a:xfrm>
            <a:off x="10626595" y="5396156"/>
            <a:ext cx="934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Comfortaa" pitchFamily="2" charset="0"/>
              </a:rPr>
              <a:t>(Time)</a:t>
            </a:r>
            <a:endParaRPr lang="en-US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82C1EB-BFB4-B520-626D-4E087DEC46A7}"/>
              </a:ext>
            </a:extLst>
          </p:cNvPr>
          <p:cNvSpPr txBox="1"/>
          <p:nvPr/>
        </p:nvSpPr>
        <p:spPr>
          <a:xfrm>
            <a:off x="640251" y="1538287"/>
            <a:ext cx="934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Comfortaa" pitchFamily="2" charset="0"/>
              </a:rPr>
              <a:t>(Jobs)</a:t>
            </a:r>
            <a:endParaRPr lang="en-US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8793CA-A5F3-624A-DA8C-A030961F1342}"/>
              </a:ext>
            </a:extLst>
          </p:cNvPr>
          <p:cNvSpPr txBox="1"/>
          <p:nvPr/>
        </p:nvSpPr>
        <p:spPr>
          <a:xfrm>
            <a:off x="193817" y="2572542"/>
            <a:ext cx="934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Comfortaa" pitchFamily="2" charset="0"/>
              </a:rPr>
              <a:t>Job 4</a:t>
            </a:r>
            <a:endParaRPr lang="en-US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6782B45-FDAD-AADC-BCE8-366CC1DDA6DD}"/>
              </a:ext>
            </a:extLst>
          </p:cNvPr>
          <p:cNvSpPr txBox="1"/>
          <p:nvPr/>
        </p:nvSpPr>
        <p:spPr>
          <a:xfrm>
            <a:off x="180563" y="3371218"/>
            <a:ext cx="934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Comfortaa" pitchFamily="2" charset="0"/>
              </a:rPr>
              <a:t>Job 3</a:t>
            </a:r>
            <a:endParaRPr lang="en-US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9280D7B-7337-4302-B1AE-507CA0D748D6}"/>
              </a:ext>
            </a:extLst>
          </p:cNvPr>
          <p:cNvSpPr txBox="1"/>
          <p:nvPr/>
        </p:nvSpPr>
        <p:spPr>
          <a:xfrm>
            <a:off x="193817" y="4267883"/>
            <a:ext cx="934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Comfortaa" pitchFamily="2" charset="0"/>
              </a:rPr>
              <a:t>Job 2</a:t>
            </a:r>
            <a:endParaRPr lang="en-US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3630EF-E629-AC32-A484-E17F2E0D5AAD}"/>
              </a:ext>
            </a:extLst>
          </p:cNvPr>
          <p:cNvSpPr txBox="1"/>
          <p:nvPr/>
        </p:nvSpPr>
        <p:spPr>
          <a:xfrm>
            <a:off x="180564" y="5163594"/>
            <a:ext cx="934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Comfortaa" pitchFamily="2" charset="0"/>
              </a:rPr>
              <a:t>Job 1</a:t>
            </a:r>
            <a:endParaRPr lang="en-US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118E67F-3A3C-427F-A562-BBF645E4A85C}"/>
              </a:ext>
            </a:extLst>
          </p:cNvPr>
          <p:cNvSpPr/>
          <p:nvPr/>
        </p:nvSpPr>
        <p:spPr>
          <a:xfrm>
            <a:off x="1128090" y="2385391"/>
            <a:ext cx="2017643" cy="71561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6D4AA5C-73A9-3FD2-28B5-EF818600251F}"/>
              </a:ext>
            </a:extLst>
          </p:cNvPr>
          <p:cNvSpPr/>
          <p:nvPr/>
        </p:nvSpPr>
        <p:spPr>
          <a:xfrm>
            <a:off x="1128090" y="3283487"/>
            <a:ext cx="2271093" cy="71561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DDC405B-FAE5-8446-1814-AE7CDF1662F7}"/>
              </a:ext>
            </a:extLst>
          </p:cNvPr>
          <p:cNvSpPr/>
          <p:nvPr/>
        </p:nvSpPr>
        <p:spPr>
          <a:xfrm>
            <a:off x="1128090" y="4229101"/>
            <a:ext cx="561562" cy="71561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319D2D7-8393-DFD9-6137-B2D068FE4F43}"/>
              </a:ext>
            </a:extLst>
          </p:cNvPr>
          <p:cNvSpPr/>
          <p:nvPr/>
        </p:nvSpPr>
        <p:spPr>
          <a:xfrm>
            <a:off x="1706216" y="4229102"/>
            <a:ext cx="521803" cy="71561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2C7B12F-C59D-C221-E3CD-8B218BDCE6E1}"/>
              </a:ext>
            </a:extLst>
          </p:cNvPr>
          <p:cNvSpPr/>
          <p:nvPr/>
        </p:nvSpPr>
        <p:spPr>
          <a:xfrm>
            <a:off x="1138029" y="5145157"/>
            <a:ext cx="521803" cy="71561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8E67649-6B35-F8EC-EEFE-403811C2A755}"/>
              </a:ext>
            </a:extLst>
          </p:cNvPr>
          <p:cNvSpPr/>
          <p:nvPr/>
        </p:nvSpPr>
        <p:spPr>
          <a:xfrm>
            <a:off x="1709529" y="5140057"/>
            <a:ext cx="561562" cy="71561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41F81F4-6444-5B32-5607-4925F351A97D}"/>
              </a:ext>
            </a:extLst>
          </p:cNvPr>
          <p:cNvSpPr/>
          <p:nvPr/>
        </p:nvSpPr>
        <p:spPr>
          <a:xfrm>
            <a:off x="3377852" y="2399399"/>
            <a:ext cx="2271093" cy="71561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521E122-9AB3-7405-D72E-0EF74F91E521}"/>
              </a:ext>
            </a:extLst>
          </p:cNvPr>
          <p:cNvSpPr/>
          <p:nvPr/>
        </p:nvSpPr>
        <p:spPr>
          <a:xfrm>
            <a:off x="3145733" y="5106156"/>
            <a:ext cx="2017643" cy="71561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E40C5C1-C139-C1C2-FD2A-5AFFAD6C5768}"/>
              </a:ext>
            </a:extLst>
          </p:cNvPr>
          <p:cNvSpPr/>
          <p:nvPr/>
        </p:nvSpPr>
        <p:spPr>
          <a:xfrm>
            <a:off x="5149506" y="4206160"/>
            <a:ext cx="2017643" cy="71561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E7B3285-49BE-A150-70E5-C4AE2AFE5000}"/>
              </a:ext>
            </a:extLst>
          </p:cNvPr>
          <p:cNvSpPr/>
          <p:nvPr/>
        </p:nvSpPr>
        <p:spPr>
          <a:xfrm>
            <a:off x="7169631" y="3310729"/>
            <a:ext cx="2017643" cy="71561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5F4711F-58FC-06B9-5580-3C0F4EE71311}"/>
              </a:ext>
            </a:extLst>
          </p:cNvPr>
          <p:cNvSpPr/>
          <p:nvPr/>
        </p:nvSpPr>
        <p:spPr>
          <a:xfrm>
            <a:off x="5669543" y="5143714"/>
            <a:ext cx="2271093" cy="71561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7D73236-676D-78DE-8458-B145A60F422C}"/>
              </a:ext>
            </a:extLst>
          </p:cNvPr>
          <p:cNvSpPr/>
          <p:nvPr/>
        </p:nvSpPr>
        <p:spPr>
          <a:xfrm>
            <a:off x="7940636" y="4226244"/>
            <a:ext cx="2271093" cy="71561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2C876EB-5F9B-5C84-586A-BC010BDDDF9F}"/>
              </a:ext>
            </a:extLst>
          </p:cNvPr>
          <p:cNvSpPr/>
          <p:nvPr/>
        </p:nvSpPr>
        <p:spPr>
          <a:xfrm>
            <a:off x="6170539" y="2394863"/>
            <a:ext cx="561562" cy="71561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D9F8FF4-060C-7360-1D06-B77B6C21F8CB}"/>
              </a:ext>
            </a:extLst>
          </p:cNvPr>
          <p:cNvSpPr/>
          <p:nvPr/>
        </p:nvSpPr>
        <p:spPr>
          <a:xfrm>
            <a:off x="9693960" y="3302134"/>
            <a:ext cx="561562" cy="71561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CCB66FB-79CE-E184-F6DD-211A3B5E1F98}"/>
              </a:ext>
            </a:extLst>
          </p:cNvPr>
          <p:cNvSpPr/>
          <p:nvPr/>
        </p:nvSpPr>
        <p:spPr>
          <a:xfrm>
            <a:off x="5645527" y="2398643"/>
            <a:ext cx="521803" cy="71561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D9BCDA6-34C2-7996-9385-F0DE89A58B02}"/>
              </a:ext>
            </a:extLst>
          </p:cNvPr>
          <p:cNvSpPr/>
          <p:nvPr/>
        </p:nvSpPr>
        <p:spPr>
          <a:xfrm>
            <a:off x="9172157" y="3303113"/>
            <a:ext cx="521803" cy="71561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B5E27B7-F206-7BF8-9080-46DB8B08A09C}"/>
              </a:ext>
            </a:extLst>
          </p:cNvPr>
          <p:cNvCxnSpPr>
            <a:cxnSpLocks/>
          </p:cNvCxnSpPr>
          <p:nvPr/>
        </p:nvCxnSpPr>
        <p:spPr>
          <a:xfrm flipV="1">
            <a:off x="1098268" y="1972917"/>
            <a:ext cx="0" cy="449745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DF8E585-CDBB-3187-8347-6BF50FD7DCD6}"/>
              </a:ext>
            </a:extLst>
          </p:cNvPr>
          <p:cNvCxnSpPr>
            <a:cxnSpLocks/>
          </p:cNvCxnSpPr>
          <p:nvPr/>
        </p:nvCxnSpPr>
        <p:spPr>
          <a:xfrm>
            <a:off x="505240" y="5882293"/>
            <a:ext cx="10870095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2B1D099-1755-D63B-C3D7-BD04129ADF55}"/>
              </a:ext>
            </a:extLst>
          </p:cNvPr>
          <p:cNvSpPr txBox="1"/>
          <p:nvPr/>
        </p:nvSpPr>
        <p:spPr>
          <a:xfrm>
            <a:off x="3911665" y="161941"/>
            <a:ext cx="4511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92D050"/>
                </a:solidFill>
                <a:latin typeface="Comfortaa" pitchFamily="2" charset="0"/>
              </a:rPr>
              <a:t>Optimizing with a job-shop scheduling problem</a:t>
            </a:r>
            <a:endParaRPr lang="en-US" dirty="0">
              <a:solidFill>
                <a:srgbClr val="92D050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017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8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2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4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6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8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64" grpId="0" animBg="1"/>
      <p:bldP spid="65" grpId="0" animBg="1"/>
      <p:bldP spid="66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DE2CB8-B98F-F548-F130-6FA9CA9578BC}"/>
              </a:ext>
            </a:extLst>
          </p:cNvPr>
          <p:cNvSpPr txBox="1"/>
          <p:nvPr/>
        </p:nvSpPr>
        <p:spPr>
          <a:xfrm>
            <a:off x="2375799" y="2705725"/>
            <a:ext cx="74404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chemeClr val="bg1"/>
                </a:solidFill>
                <a:latin typeface="Comfortaa" pitchFamily="2" charset="0"/>
              </a:rPr>
              <a:t>Thank you for your time!</a:t>
            </a:r>
            <a:endParaRPr lang="en-US" sz="4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9AF3DC-EACA-11D9-6143-3936C0D757A0}"/>
              </a:ext>
            </a:extLst>
          </p:cNvPr>
          <p:cNvSpPr txBox="1"/>
          <p:nvPr/>
        </p:nvSpPr>
        <p:spPr>
          <a:xfrm>
            <a:off x="2375799" y="2705725"/>
            <a:ext cx="82664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chemeClr val="bg1"/>
                </a:solidFill>
                <a:latin typeface="Comfortaa" pitchFamily="2" charset="0"/>
              </a:rPr>
              <a:t>Do you have any questions?</a:t>
            </a:r>
            <a:endParaRPr lang="en-US" sz="4400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B3159-7E26-B75F-05DC-E647F4638183}"/>
              </a:ext>
            </a:extLst>
          </p:cNvPr>
          <p:cNvSpPr txBox="1"/>
          <p:nvPr/>
        </p:nvSpPr>
        <p:spPr>
          <a:xfrm>
            <a:off x="0" y="6488668"/>
            <a:ext cx="11601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Comfortaa" pitchFamily="2" charset="0"/>
              </a:rPr>
              <a:t>Reference article: “</a:t>
            </a:r>
            <a:r>
              <a:rPr lang="en-GB" sz="1800" b="0" i="0" u="none" strike="noStrike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An agent-based process mining architecture for emergent behaviour analysis”</a:t>
            </a:r>
            <a:endParaRPr lang="en-US" dirty="0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437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115D46CE538478C465DC03A4CD648" ma:contentTypeVersion="7" ma:contentTypeDescription="Een nieuw document maken." ma:contentTypeScope="" ma:versionID="f66a036ed51166668c96c2d7e34707cf">
  <xsd:schema xmlns:xsd="http://www.w3.org/2001/XMLSchema" xmlns:xs="http://www.w3.org/2001/XMLSchema" xmlns:p="http://schemas.microsoft.com/office/2006/metadata/properties" xmlns:ns3="9ef9fe25-da9a-42fb-bce3-a2bf1e15f6d1" xmlns:ns4="443c26cd-ebab-485c-9766-8e3c5c785cd7" targetNamespace="http://schemas.microsoft.com/office/2006/metadata/properties" ma:root="true" ma:fieldsID="77ce1414317d0be699ae467598cb5ab3" ns3:_="" ns4:_="">
    <xsd:import namespace="9ef9fe25-da9a-42fb-bce3-a2bf1e15f6d1"/>
    <xsd:import namespace="443c26cd-ebab-485c-9766-8e3c5c785cd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f9fe25-da9a-42fb-bce3-a2bf1e15f6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3c26cd-ebab-485c-9766-8e3c5c785cd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3D06A-D29A-479A-8F34-CD90B6F030FD}">
  <ds:schemaRefs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443c26cd-ebab-485c-9766-8e3c5c785cd7"/>
    <ds:schemaRef ds:uri="9ef9fe25-da9a-42fb-bce3-a2bf1e15f6d1"/>
  </ds:schemaRefs>
</ds:datastoreItem>
</file>

<file path=customXml/itemProps2.xml><?xml version="1.0" encoding="utf-8"?>
<ds:datastoreItem xmlns:ds="http://schemas.openxmlformats.org/officeDocument/2006/customXml" ds:itemID="{E060DBF9-7EB9-40D2-9A68-BC8D725548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2276B8-9ABB-4907-A4C1-35E445DE42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f9fe25-da9a-42fb-bce3-a2bf1e15f6d1"/>
    <ds:schemaRef ds:uri="443c26cd-ebab-485c-9766-8e3c5c785c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1866</TotalTime>
  <Words>1602</Words>
  <Application>Microsoft Office PowerPoint</Application>
  <PresentationFormat>Widescreen</PresentationFormat>
  <Paragraphs>165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Comfortaa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Alexe, V.A. (Vlad, Student B-TCS)</dc:creator>
  <cp:lastModifiedBy>Alexe, V.A. (Vlad, Student B-TCS)</cp:lastModifiedBy>
  <cp:revision>2</cp:revision>
  <dcterms:created xsi:type="dcterms:W3CDTF">2023-10-31T10:23:18Z</dcterms:created>
  <dcterms:modified xsi:type="dcterms:W3CDTF">2023-11-09T18:30:12Z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0x010100778115D46CE538478C465DC03A4CD648</vt:lpwstr>
  </property>
</Properties>
</file>